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619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08792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E6194D"/>
                </a:solidFill>
                <a:latin typeface="Calibri"/>
                <a:ea typeface="Calibri"/>
                <a:cs typeface="Calibri"/>
              </a:rPr>
              <a:t>ZERO TO ONE  ·  POCKET FM × OPENAI × LIGHTSPEED  ·  IIM BANGALORE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74519"/>
            <a:ext cx="10908792" cy="6858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Kahani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651760"/>
            <a:ext cx="10241280" cy="4114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1A1AA"/>
                </a:solidFill>
                <a:latin typeface="Calibri"/>
                <a:ea typeface="Calibri"/>
                <a:cs typeface="Calibri"/>
              </a:rPr>
              <a:t>Multi-agent production studio for serialized audio entertainment.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1546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71717A"/>
                </a:solidFill>
                <a:latin typeface="Calibri"/>
                <a:ea typeface="Calibri"/>
                <a:cs typeface="Calibri"/>
              </a:rPr>
              <a:t>What we built · how the agents work · Databricks-backed context &amp; cast retrieval.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4617720"/>
            <a:ext cx="3474720" cy="1097280"/>
          </a:xfrm>
          <a:prstGeom prst="roundRect">
            <a:avLst>
              <a:gd name="adj" fmla="val 5000"/>
            </a:avLst>
          </a:prstGeom>
          <a:solidFill>
            <a:srgbClr val="18181F"/>
          </a:solidFill>
          <a:ln w="12700">
            <a:solidFill>
              <a:srgbClr val="2E2E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09728" tIns="91440" bIns="73152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E6194D"/>
                </a:solidFill>
                <a:latin typeface="Calibri"/>
                <a:ea typeface="Calibri"/>
                <a:cs typeface="Calibri"/>
              </a:rPr>
              <a:t>THEME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T-04 Creator Tools  ·  T-01 / T-02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4617720"/>
            <a:ext cx="3474720" cy="1097280"/>
          </a:xfrm>
          <a:prstGeom prst="roundRect">
            <a:avLst>
              <a:gd name="adj" fmla="val 5000"/>
            </a:avLst>
          </a:prstGeom>
          <a:solidFill>
            <a:srgbClr val="18181F"/>
          </a:solidFill>
          <a:ln w="12700">
            <a:solidFill>
              <a:srgbClr val="2E2E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09728" tIns="91440" bIns="73152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E6194D"/>
                </a:solidFill>
                <a:latin typeface="Calibri"/>
                <a:ea typeface="Calibri"/>
                <a:cs typeface="Calibri"/>
              </a:rPr>
              <a:t>CORE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 specialized agents in one pipeline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80" y="4617720"/>
            <a:ext cx="3474720" cy="1097280"/>
          </a:xfrm>
          <a:prstGeom prst="roundRect">
            <a:avLst>
              <a:gd name="adj" fmla="val 5000"/>
            </a:avLst>
          </a:prstGeom>
          <a:solidFill>
            <a:srgbClr val="18181F"/>
          </a:solidFill>
          <a:ln w="12700">
            <a:solidFill>
              <a:srgbClr val="2E2E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09728" tIns="91440" bIns="73152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E6194D"/>
                </a:solidFill>
                <a:latin typeface="Calibri"/>
                <a:ea typeface="Calibri"/>
                <a:cs typeface="Calibri"/>
              </a:rPr>
              <a:t>DEMO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Listen → simulate → human publish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329184"/>
            <a:ext cx="329184" cy="54864"/>
          </a:xfrm>
          <a:prstGeom prst="rect">
            <a:avLst/>
          </a:prstGeom>
          <a:solidFill>
            <a:srgbClr val="E619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08792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E6194D"/>
                </a:solidFill>
                <a:latin typeface="Calibri"/>
                <a:ea typeface="Calibri"/>
                <a:cs typeface="Calibri"/>
              </a:rPr>
              <a:t>01  WHAT WE BUILT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94944"/>
            <a:ext cx="10908792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An end-to-end studio — from story hook to publishable episode package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97280"/>
            <a:ext cx="10908792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1A1AA"/>
                </a:solidFill>
                <a:latin typeface="Calibri"/>
                <a:ea typeface="Calibri"/>
                <a:cs typeface="Calibri"/>
              </a:rPr>
              <a:t>Not a chat wrapper: human-gated production stages with agent orchestration.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664208"/>
            <a:ext cx="73152" cy="4160520"/>
          </a:xfrm>
          <a:prstGeom prst="rect">
            <a:avLst/>
          </a:prstGeom>
          <a:solidFill>
            <a:srgbClr val="E619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13232" y="1664208"/>
            <a:ext cx="5779008" cy="4160520"/>
          </a:xfrm>
          <a:prstGeom prst="roundRect">
            <a:avLst>
              <a:gd name="adj" fmla="val 5000"/>
            </a:avLst>
          </a:prstGeom>
          <a:solidFill>
            <a:srgbClr val="18181F"/>
          </a:solidFill>
          <a:ln w="12700">
            <a:solidFill>
              <a:srgbClr val="2E2E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91440" bIns="73152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Shipped surfaces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A1A1AA"/>
                </a:solidFill>
                <a:latin typeface="Calibri"/>
                <a:ea typeface="Calibri"/>
                <a:cs typeface="Calibri"/>
              </a:rPr>
              <a:t>•  Project workspace with context attachments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A1A1AA"/>
                </a:solidFill>
                <a:latin typeface="Calibri"/>
                <a:ea typeface="Calibri"/>
                <a:cs typeface="Calibri"/>
              </a:rPr>
              <a:t>•  Agent chat: discover, pitch, generate, approve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A1A1AA"/>
                </a:solidFill>
                <a:latin typeface="Calibri"/>
                <a:ea typeface="Calibri"/>
                <a:cs typeface="Calibri"/>
              </a:rPr>
              <a:t>•  LangGraph run → structured script package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A1A1AA"/>
                </a:solidFill>
                <a:latin typeface="Calibri"/>
                <a:ea typeface="Calibri"/>
                <a:cs typeface="Calibri"/>
              </a:rPr>
              <a:t>•  Voice + SFX mix (ElevenLabs / Sarvam)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A1A1AA"/>
                </a:solidFill>
                <a:latin typeface="Calibri"/>
                <a:ea typeface="Calibri"/>
                <a:cs typeface="Calibri"/>
              </a:rPr>
              <a:t>•  Companion visuals + cover art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A1A1AA"/>
                </a:solidFill>
                <a:latin typeface="Calibri"/>
                <a:ea typeface="Calibri"/>
                <a:cs typeface="Calibri"/>
              </a:rPr>
              <a:t>•  Web timeline editor (stems, markers, listen)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A1A1AA"/>
                </a:solidFill>
                <a:latin typeface="Calibri"/>
                <a:ea typeface="Calibri"/>
                <a:cs typeface="Calibri"/>
              </a:rPr>
              <a:t>•  Audience simulation (audit + personas + patches)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1A1AA"/>
                </a:solidFill>
                <a:latin typeface="Calibri"/>
                <a:ea typeface="Calibri"/>
                <a:cs typeface="Calibri"/>
              </a:rPr>
              <a:t>•  Episode assembly → S3 artifact package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0" y="1664208"/>
            <a:ext cx="4846320" cy="914400"/>
          </a:xfrm>
          <a:prstGeom prst="roundRect">
            <a:avLst>
              <a:gd name="adj" fmla="val 5000"/>
            </a:avLst>
          </a:prstGeom>
          <a:solidFill>
            <a:srgbClr val="18181F"/>
          </a:solidFill>
          <a:ln w="12700">
            <a:solidFill>
              <a:srgbClr val="2E2E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09728" tIns="91440" bIns="73152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>
                <a:solidFill>
                  <a:srgbClr val="E6194D"/>
                </a:solidFill>
                <a:latin typeface="Calibri"/>
                <a:ea typeface="Calibri"/>
                <a:cs typeface="Calibri"/>
              </a:rPr>
              <a:t>ENTRY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Project + prompt + attachments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0" y="2688336"/>
            <a:ext cx="4846320" cy="914400"/>
          </a:xfrm>
          <a:prstGeom prst="roundRect">
            <a:avLst>
              <a:gd name="adj" fmla="val 5000"/>
            </a:avLst>
          </a:prstGeom>
          <a:solidFill>
            <a:srgbClr val="18181F"/>
          </a:solidFill>
          <a:ln w="12700">
            <a:solidFill>
              <a:srgbClr val="2E2E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09728" tIns="91440" bIns="73152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>
                <a:solidFill>
                  <a:srgbClr val="E6194D"/>
                </a:solidFill>
                <a:latin typeface="Calibri"/>
                <a:ea typeface="Calibri"/>
                <a:cs typeface="Calibri"/>
              </a:rPr>
              <a:t>GATES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Script → Audio → Visuals → Cover → Assembly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75120" y="3712464"/>
            <a:ext cx="4846320" cy="914400"/>
          </a:xfrm>
          <a:prstGeom prst="roundRect">
            <a:avLst>
              <a:gd name="adj" fmla="val 5000"/>
            </a:avLst>
          </a:prstGeom>
          <a:solidFill>
            <a:srgbClr val="18181F"/>
          </a:solidFill>
          <a:ln w="12700">
            <a:solidFill>
              <a:srgbClr val="2E2E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09728" tIns="91440" bIns="73152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>
                <a:solidFill>
                  <a:srgbClr val="E6194D"/>
                </a:solidFill>
                <a:latin typeface="Calibri"/>
                <a:ea typeface="Calibri"/>
                <a:cs typeface="Calibri"/>
              </a:rPr>
              <a:t>LANGUAGES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Hindi + English (library voices)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0" y="4736592"/>
            <a:ext cx="4846320" cy="914400"/>
          </a:xfrm>
          <a:prstGeom prst="roundRect">
            <a:avLst>
              <a:gd name="adj" fmla="val 5000"/>
            </a:avLst>
          </a:prstGeom>
          <a:solidFill>
            <a:srgbClr val="18181F"/>
          </a:solidFill>
          <a:ln w="12700">
            <a:solidFill>
              <a:srgbClr val="2E2E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09728" tIns="91440" bIns="73152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>
                <a:solidFill>
                  <a:srgbClr val="E6194D"/>
                </a:solidFill>
                <a:latin typeface="Calibri"/>
                <a:ea typeface="Calibri"/>
                <a:cs typeface="Calibri"/>
              </a:rPr>
              <a:t>RUNTIME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Docker Compose · API · Worker · Redis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73952"/>
            <a:ext cx="841248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71717A"/>
                </a:solidFill>
                <a:latin typeface="Calibri"/>
                <a:ea typeface="Calibri"/>
                <a:cs typeface="Calibri"/>
              </a:rPr>
              <a:t>Kahani  ·  Zero to One × Pocket FM  ·  IIM Bangalore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95560" y="6473952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71717A"/>
                </a:solidFill>
                <a:latin typeface="Calibri"/>
                <a:ea typeface="Calibri"/>
                <a:cs typeface="Calibri"/>
              </a:rPr>
              <a:t>02 / 08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329184"/>
            <a:ext cx="329184" cy="54864"/>
          </a:xfrm>
          <a:prstGeom prst="rect">
            <a:avLst/>
          </a:prstGeom>
          <a:solidFill>
            <a:srgbClr val="E619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08792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E6194D"/>
                </a:solidFill>
                <a:latin typeface="Calibri"/>
                <a:ea typeface="Calibri"/>
                <a:cs typeface="Calibri"/>
              </a:rPr>
              <a:t>02  TECH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94944"/>
            <a:ext cx="10908792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Production stack — including Databricks for vector retrieval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97280"/>
            <a:ext cx="10908792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1A1AA"/>
                </a:solidFill>
                <a:latin typeface="Calibri"/>
                <a:ea typeface="Calibri"/>
                <a:cs typeface="Calibri"/>
              </a:rPr>
              <a:t>Same stack we run in Compose locally and wire for cloud deploy.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664208"/>
            <a:ext cx="73152" cy="3246120"/>
          </a:xfrm>
          <a:prstGeom prst="rect">
            <a:avLst/>
          </a:prstGeom>
          <a:solidFill>
            <a:srgbClr val="E619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13232" y="1664208"/>
            <a:ext cx="3401568" cy="3246120"/>
          </a:xfrm>
          <a:prstGeom prst="roundRect">
            <a:avLst>
              <a:gd name="adj" fmla="val 5000"/>
            </a:avLst>
          </a:prstGeom>
          <a:solidFill>
            <a:srgbClr val="18181F"/>
          </a:solidFill>
          <a:ln w="12700">
            <a:solidFill>
              <a:srgbClr val="2E2E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91440" bIns="73152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Application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A1A1AA"/>
                </a:solidFill>
                <a:latin typeface="Calibri"/>
                <a:ea typeface="Calibri"/>
                <a:cs typeface="Calibri"/>
              </a:rPr>
              <a:t>•  React 19 · TypeScript · Vite · Tailwind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A1A1AA"/>
                </a:solidFill>
                <a:latin typeface="Calibri"/>
                <a:ea typeface="Calibri"/>
                <a:cs typeface="Calibri"/>
              </a:rPr>
              <a:t>•  FastAPI · SQLAlchemy async · Alembic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A1A1AA"/>
                </a:solidFill>
                <a:latin typeface="Calibri"/>
                <a:ea typeface="Calibri"/>
                <a:cs typeface="Calibri"/>
              </a:rPr>
              <a:t>•  ARQ workers on Redis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1A1AA"/>
                </a:solidFill>
                <a:latin typeface="Calibri"/>
                <a:ea typeface="Calibri"/>
                <a:cs typeface="Calibri"/>
              </a:rPr>
              <a:t>•  LangGraph + Postgres checkpointer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664208"/>
            <a:ext cx="73152" cy="3246120"/>
          </a:xfrm>
          <a:prstGeom prst="rect">
            <a:avLst/>
          </a:prstGeom>
          <a:solidFill>
            <a:srgbClr val="E619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370832" y="1664208"/>
            <a:ext cx="3401568" cy="3246120"/>
          </a:xfrm>
          <a:prstGeom prst="roundRect">
            <a:avLst>
              <a:gd name="adj" fmla="val 5000"/>
            </a:avLst>
          </a:prstGeom>
          <a:solidFill>
            <a:srgbClr val="18181F"/>
          </a:solidFill>
          <a:ln w="12700">
            <a:solidFill>
              <a:srgbClr val="2E2E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91440" bIns="73152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AI &amp; media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A1A1AA"/>
                </a:solidFill>
                <a:latin typeface="Calibri"/>
                <a:ea typeface="Calibri"/>
                <a:cs typeface="Calibri"/>
              </a:rPr>
              <a:t>•  LLM: OpenAI / Anthropic (Script Writer)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A1A1AA"/>
                </a:solidFill>
                <a:latin typeface="Calibri"/>
                <a:ea typeface="Calibri"/>
                <a:cs typeface="Calibri"/>
              </a:rPr>
              <a:t>•  TTS: ElevenLabs + Sarvam (Hindi)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A1A1AA"/>
                </a:solidFill>
                <a:latin typeface="Calibri"/>
                <a:ea typeface="Calibri"/>
                <a:cs typeface="Calibri"/>
              </a:rPr>
              <a:t>•  Images: OpenAI · Gemini (fallback)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1A1AA"/>
                </a:solidFill>
                <a:latin typeface="Calibri"/>
                <a:ea typeface="Calibri"/>
                <a:cs typeface="Calibri"/>
              </a:rPr>
              <a:t>•  Research: Tavily web crawl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55280" y="1664208"/>
            <a:ext cx="73152" cy="3246120"/>
          </a:xfrm>
          <a:prstGeom prst="rect">
            <a:avLst/>
          </a:prstGeom>
          <a:solidFill>
            <a:srgbClr val="E619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028432" y="1664208"/>
            <a:ext cx="3401568" cy="3246120"/>
          </a:xfrm>
          <a:prstGeom prst="roundRect">
            <a:avLst>
              <a:gd name="adj" fmla="val 5000"/>
            </a:avLst>
          </a:prstGeom>
          <a:solidFill>
            <a:srgbClr val="18181F"/>
          </a:solidFill>
          <a:ln w="12700">
            <a:solidFill>
              <a:srgbClr val="2E2E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91440" bIns="73152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Data &amp; infra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A1A1AA"/>
                </a:solidFill>
                <a:latin typeface="Calibri"/>
                <a:ea typeface="Calibri"/>
                <a:cs typeface="Calibri"/>
              </a:rPr>
              <a:t>•  Postgres 16 · Redis 7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A1A1AA"/>
                </a:solidFill>
                <a:latin typeface="Calibri"/>
                <a:ea typeface="Calibri"/>
                <a:cs typeface="Calibri"/>
              </a:rPr>
              <a:t>•  Databricks AI Search (project RAG)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A1A1AA"/>
                </a:solidFill>
                <a:latin typeface="Calibri"/>
                <a:ea typeface="Calibri"/>
                <a:cs typeface="Calibri"/>
              </a:rPr>
              <a:t>•  Databricks Vector Search (cast catalog)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1A1AA"/>
                </a:solidFill>
                <a:latin typeface="Calibri"/>
                <a:ea typeface="Calibri"/>
                <a:cs typeface="Calibri"/>
              </a:rPr>
              <a:t>•  S3 artifacts · Docker · AWS / Terraform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5093208"/>
            <a:ext cx="10908792" cy="868680"/>
          </a:xfrm>
          <a:prstGeom prst="roundRect">
            <a:avLst>
              <a:gd name="adj" fmla="val 5000"/>
            </a:avLst>
          </a:prstGeom>
          <a:solidFill>
            <a:srgbClr val="18181F"/>
          </a:solidFill>
          <a:ln w="12700">
            <a:solidFill>
              <a:srgbClr val="E619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09728" tIns="91440" bIns="73152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6194D"/>
                </a:solidFill>
                <a:latin typeface="Calibri"/>
                <a:ea typeface="Calibri"/>
                <a:cs typeface="Calibri"/>
              </a:rPr>
              <a:t>Databricks in the loop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1A1AA"/>
                </a:solidFill>
                <a:latin typeface="Calibri"/>
                <a:ea typeface="Calibri"/>
                <a:cs typeface="Calibri"/>
              </a:rPr>
              <a:t>AI Search indexes story attachments for grounded scripting. Vector Search retrieves cast / voice assets and shot templates — so agents don’t invent casting or visuals from thin air.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73952"/>
            <a:ext cx="841248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71717A"/>
                </a:solidFill>
                <a:latin typeface="Calibri"/>
                <a:ea typeface="Calibri"/>
                <a:cs typeface="Calibri"/>
              </a:rPr>
              <a:t>Kahani  ·  Zero to One × Pocket FM  ·  IIM Bangalore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95560" y="6473952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71717A"/>
                </a:solidFill>
                <a:latin typeface="Calibri"/>
                <a:ea typeface="Calibri"/>
                <a:cs typeface="Calibri"/>
              </a:rPr>
              <a:t>03 / 08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329184"/>
            <a:ext cx="329184" cy="54864"/>
          </a:xfrm>
          <a:prstGeom prst="rect">
            <a:avLst/>
          </a:prstGeom>
          <a:solidFill>
            <a:srgbClr val="E619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08792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E6194D"/>
                </a:solidFill>
                <a:latin typeface="Calibri"/>
                <a:ea typeface="Calibri"/>
                <a:cs typeface="Calibri"/>
              </a:rPr>
              <a:t>03 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94944"/>
            <a:ext cx="10908792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Serial audio wins on part-to-part retention. Production is still fragmented.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97280"/>
            <a:ext cx="10908792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1A1AA"/>
                </a:solidFill>
                <a:latin typeface="Calibri"/>
                <a:ea typeface="Calibri"/>
                <a:cs typeface="Calibri"/>
              </a:rPr>
              <a:t>Pocket FM–class storytelling needs speed, cultural specificity, and pre-publish signal.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664208"/>
            <a:ext cx="73152" cy="1691640"/>
          </a:xfrm>
          <a:prstGeom prst="rect">
            <a:avLst/>
          </a:prstGeom>
          <a:solidFill>
            <a:srgbClr val="E619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13232" y="1664208"/>
            <a:ext cx="3401568" cy="1691640"/>
          </a:xfrm>
          <a:prstGeom prst="roundRect">
            <a:avLst>
              <a:gd name="adj" fmla="val 5000"/>
            </a:avLst>
          </a:prstGeom>
          <a:solidFill>
            <a:srgbClr val="18181F"/>
          </a:solidFill>
          <a:ln w="12700">
            <a:solidFill>
              <a:srgbClr val="2E2E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91440" bIns="73152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Idea → script is slow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1A1AA"/>
                </a:solidFill>
                <a:latin typeface="Calibri"/>
                <a:ea typeface="Calibri"/>
                <a:cs typeface="Calibri"/>
              </a:rPr>
              <a:t>Regional authenticity is the moat. Generic LLM drafts sound thin.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664208"/>
            <a:ext cx="73152" cy="1691640"/>
          </a:xfrm>
          <a:prstGeom prst="rect">
            <a:avLst/>
          </a:prstGeom>
          <a:solidFill>
            <a:srgbClr val="E619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370832" y="1664208"/>
            <a:ext cx="3401568" cy="1691640"/>
          </a:xfrm>
          <a:prstGeom prst="roundRect">
            <a:avLst>
              <a:gd name="adj" fmla="val 5000"/>
            </a:avLst>
          </a:prstGeom>
          <a:solidFill>
            <a:srgbClr val="18181F"/>
          </a:solidFill>
          <a:ln w="12700">
            <a:solidFill>
              <a:srgbClr val="2E2E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91440" bIns="73152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Episodes don’t chain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1A1AA"/>
                </a:solidFill>
                <a:latin typeface="Calibri"/>
                <a:ea typeface="Calibri"/>
                <a:cs typeface="Calibri"/>
              </a:rPr>
              <a:t>Weak cliffhangers → drop-off after part one.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55280" y="1664208"/>
            <a:ext cx="73152" cy="1691640"/>
          </a:xfrm>
          <a:prstGeom prst="rect">
            <a:avLst/>
          </a:prstGeom>
          <a:solidFill>
            <a:srgbClr val="E619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028432" y="1664208"/>
            <a:ext cx="3401568" cy="1691640"/>
          </a:xfrm>
          <a:prstGeom prst="roundRect">
            <a:avLst>
              <a:gd name="adj" fmla="val 5000"/>
            </a:avLst>
          </a:prstGeom>
          <a:solidFill>
            <a:srgbClr val="18181F"/>
          </a:solidFill>
          <a:ln w="12700">
            <a:solidFill>
              <a:srgbClr val="2E2E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91440" bIns="73152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Audio assembly is manual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1A1AA"/>
                </a:solidFill>
                <a:latin typeface="Calibri"/>
                <a:ea typeface="Calibri"/>
                <a:cs typeface="Calibri"/>
              </a:rPr>
              <a:t>Voice, SFX, and visuals are synced by hand across tools.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538728"/>
            <a:ext cx="73152" cy="1691640"/>
          </a:xfrm>
          <a:prstGeom prst="rect">
            <a:avLst/>
          </a:prstGeom>
          <a:solidFill>
            <a:srgbClr val="E619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13232" y="3538728"/>
            <a:ext cx="3401568" cy="1691640"/>
          </a:xfrm>
          <a:prstGeom prst="roundRect">
            <a:avLst>
              <a:gd name="adj" fmla="val 5000"/>
            </a:avLst>
          </a:prstGeom>
          <a:solidFill>
            <a:srgbClr val="18181F"/>
          </a:solidFill>
          <a:ln w="12700">
            <a:solidFill>
              <a:srgbClr val="2E2E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91440" bIns="73152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No pre-publish signal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1A1AA"/>
                </a:solidFill>
                <a:latin typeface="Calibri"/>
                <a:ea typeface="Calibri"/>
                <a:cs typeface="Calibri"/>
              </a:rPr>
              <a:t>Teams guess which cohorts will continue listening.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97680" y="3538728"/>
            <a:ext cx="73152" cy="1691640"/>
          </a:xfrm>
          <a:prstGeom prst="rect">
            <a:avLst/>
          </a:prstGeom>
          <a:solidFill>
            <a:srgbClr val="E619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370832" y="3538728"/>
            <a:ext cx="3401568" cy="1691640"/>
          </a:xfrm>
          <a:prstGeom prst="roundRect">
            <a:avLst>
              <a:gd name="adj" fmla="val 5000"/>
            </a:avLst>
          </a:prstGeom>
          <a:solidFill>
            <a:srgbClr val="18181F"/>
          </a:solidFill>
          <a:ln w="12700">
            <a:solidFill>
              <a:srgbClr val="2E2E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91440" bIns="73152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No closed loop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1A1AA"/>
                </a:solidFill>
                <a:latin typeface="Calibri"/>
                <a:ea typeface="Calibri"/>
                <a:cs typeface="Calibri"/>
              </a:rPr>
              <a:t>Wins on one story don’t systematically improve the next.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55280" y="3538728"/>
            <a:ext cx="73152" cy="1691640"/>
          </a:xfrm>
          <a:prstGeom prst="rect">
            <a:avLst/>
          </a:prstGeom>
          <a:solidFill>
            <a:srgbClr val="E619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028432" y="3538728"/>
            <a:ext cx="3401568" cy="1691640"/>
          </a:xfrm>
          <a:prstGeom prst="roundRect">
            <a:avLst>
              <a:gd name="adj" fmla="val 5000"/>
            </a:avLst>
          </a:prstGeom>
          <a:solidFill>
            <a:srgbClr val="18181F"/>
          </a:solidFill>
          <a:ln w="12700">
            <a:solidFill>
              <a:srgbClr val="2E2E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91440" bIns="73152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Tool sprawl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1A1AA"/>
                </a:solidFill>
                <a:latin typeface="Calibri"/>
                <a:ea typeface="Calibri"/>
                <a:cs typeface="Calibri"/>
              </a:rPr>
              <a:t>Briefing, writing, casting, mix, and QA live in five apps.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473952"/>
            <a:ext cx="841248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71717A"/>
                </a:solidFill>
                <a:latin typeface="Calibri"/>
                <a:ea typeface="Calibri"/>
                <a:cs typeface="Calibri"/>
              </a:rPr>
              <a:t>Kahani  ·  Zero to One × Pocket FM  ·  IIM Bangalore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95560" y="6473952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71717A"/>
                </a:solidFill>
                <a:latin typeface="Calibri"/>
                <a:ea typeface="Calibri"/>
                <a:cs typeface="Calibri"/>
              </a:rPr>
              <a:t>04 / 08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329184"/>
            <a:ext cx="329184" cy="54864"/>
          </a:xfrm>
          <a:prstGeom prst="rect">
            <a:avLst/>
          </a:prstGeom>
          <a:solidFill>
            <a:srgbClr val="E619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08792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E6194D"/>
                </a:solidFill>
                <a:latin typeface="Calibri"/>
                <a:ea typeface="Calibri"/>
                <a:cs typeface="Calibri"/>
              </a:rPr>
              <a:t>04  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94944"/>
            <a:ext cx="10908792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One orchestrated pipeline — agents specialize, humans gate quality cliffs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97280"/>
            <a:ext cx="10908792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1A1AA"/>
                </a:solidFill>
                <a:latin typeface="Calibri"/>
                <a:ea typeface="Calibri"/>
                <a:cs typeface="Calibri"/>
              </a:rPr>
              <a:t>Auto-run generation. Never auto-publish.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64208"/>
            <a:ext cx="1234440" cy="1051560"/>
          </a:xfrm>
          <a:prstGeom prst="roundRect">
            <a:avLst>
              <a:gd name="adj" fmla="val 5000"/>
            </a:avLst>
          </a:prstGeom>
          <a:solidFill>
            <a:srgbClr val="18181F"/>
          </a:solidFill>
          <a:ln w="12700">
            <a:solidFill>
              <a:srgbClr val="2E2E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09728" tIns="91440" bIns="73152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E6194D"/>
                </a:solidFill>
                <a:latin typeface="Calibri"/>
                <a:ea typeface="Calibri"/>
                <a:cs typeface="Calibri"/>
              </a:rPr>
              <a:t>1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Discover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984248" y="1664208"/>
            <a:ext cx="1234440" cy="1051560"/>
          </a:xfrm>
          <a:prstGeom prst="roundRect">
            <a:avLst>
              <a:gd name="adj" fmla="val 5000"/>
            </a:avLst>
          </a:prstGeom>
          <a:solidFill>
            <a:srgbClr val="18181F"/>
          </a:solidFill>
          <a:ln w="12700">
            <a:solidFill>
              <a:srgbClr val="2E2E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09728" tIns="91440" bIns="73152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E6194D"/>
                </a:solidFill>
                <a:latin typeface="Calibri"/>
                <a:ea typeface="Calibri"/>
                <a:cs typeface="Calibri"/>
              </a:rPr>
              <a:t>2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Research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28416" y="1664208"/>
            <a:ext cx="1234440" cy="1051560"/>
          </a:xfrm>
          <a:prstGeom prst="roundRect">
            <a:avLst>
              <a:gd name="adj" fmla="val 5000"/>
            </a:avLst>
          </a:prstGeom>
          <a:solidFill>
            <a:srgbClr val="18181F"/>
          </a:solidFill>
          <a:ln w="12700">
            <a:solidFill>
              <a:srgbClr val="2E2E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09728" tIns="91440" bIns="73152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E6194D"/>
                </a:solidFill>
                <a:latin typeface="Calibri"/>
                <a:ea typeface="Calibri"/>
                <a:cs typeface="Calibri"/>
              </a:rPr>
              <a:t>3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Script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72584" y="1664208"/>
            <a:ext cx="1234440" cy="1051560"/>
          </a:xfrm>
          <a:prstGeom prst="roundRect">
            <a:avLst>
              <a:gd name="adj" fmla="val 5000"/>
            </a:avLst>
          </a:prstGeom>
          <a:solidFill>
            <a:srgbClr val="18181F"/>
          </a:solidFill>
          <a:ln w="12700">
            <a:solidFill>
              <a:srgbClr val="2E2E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09728" tIns="91440" bIns="73152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E6194D"/>
                </a:solidFill>
                <a:latin typeface="Calibri"/>
                <a:ea typeface="Calibri"/>
                <a:cs typeface="Calibri"/>
              </a:rPr>
              <a:t>4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Narrate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16752" y="1664208"/>
            <a:ext cx="1234440" cy="1051560"/>
          </a:xfrm>
          <a:prstGeom prst="roundRect">
            <a:avLst>
              <a:gd name="adj" fmla="val 5000"/>
            </a:avLst>
          </a:prstGeom>
          <a:solidFill>
            <a:srgbClr val="18181F"/>
          </a:solidFill>
          <a:ln w="12700">
            <a:solidFill>
              <a:srgbClr val="2E2E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09728" tIns="91440" bIns="73152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E6194D"/>
                </a:solidFill>
                <a:latin typeface="Calibri"/>
                <a:ea typeface="Calibri"/>
                <a:cs typeface="Calibri"/>
              </a:rPr>
              <a:t>5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Voice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60920" y="1664208"/>
            <a:ext cx="1234440" cy="1051560"/>
          </a:xfrm>
          <a:prstGeom prst="roundRect">
            <a:avLst>
              <a:gd name="adj" fmla="val 5000"/>
            </a:avLst>
          </a:prstGeom>
          <a:solidFill>
            <a:srgbClr val="18181F"/>
          </a:solidFill>
          <a:ln w="12700">
            <a:solidFill>
              <a:srgbClr val="2E2E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09728" tIns="91440" bIns="73152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E6194D"/>
                </a:solidFill>
                <a:latin typeface="Calibri"/>
                <a:ea typeface="Calibri"/>
                <a:cs typeface="Calibri"/>
              </a:rPr>
              <a:t>6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Visuals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705088" y="1664208"/>
            <a:ext cx="1234440" cy="1051560"/>
          </a:xfrm>
          <a:prstGeom prst="roundRect">
            <a:avLst>
              <a:gd name="adj" fmla="val 5000"/>
            </a:avLst>
          </a:prstGeom>
          <a:solidFill>
            <a:srgbClr val="18181F"/>
          </a:solidFill>
          <a:ln w="12700">
            <a:solidFill>
              <a:srgbClr val="2E2E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09728" tIns="91440" bIns="73152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E6194D"/>
                </a:solidFill>
                <a:latin typeface="Calibri"/>
                <a:ea typeface="Calibri"/>
                <a:cs typeface="Calibri"/>
              </a:rPr>
              <a:t>7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Edit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049256" y="1664208"/>
            <a:ext cx="1234440" cy="1051560"/>
          </a:xfrm>
          <a:prstGeom prst="roundRect">
            <a:avLst>
              <a:gd name="adj" fmla="val 5000"/>
            </a:avLst>
          </a:prstGeom>
          <a:solidFill>
            <a:srgbClr val="18181F"/>
          </a:solidFill>
          <a:ln w="12700">
            <a:solidFill>
              <a:srgbClr val="2E2E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09728" tIns="91440" bIns="73152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E6194D"/>
                </a:solidFill>
                <a:latin typeface="Calibri"/>
                <a:ea typeface="Calibri"/>
                <a:cs typeface="Calibri"/>
              </a:rPr>
              <a:t>8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Simulate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2944368"/>
            <a:ext cx="2560320" cy="2697480"/>
          </a:xfrm>
          <a:prstGeom prst="roundRect">
            <a:avLst>
              <a:gd name="adj" fmla="val 5000"/>
            </a:avLst>
          </a:prstGeom>
          <a:solidFill>
            <a:srgbClr val="18181F"/>
          </a:solidFill>
          <a:ln w="12700">
            <a:solidFill>
              <a:srgbClr val="2E2E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09728" tIns="91440" bIns="73152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>
                <a:solidFill>
                  <a:srgbClr val="E6194D"/>
                </a:solidFill>
                <a:latin typeface="Calibri"/>
                <a:ea typeface="Calibri"/>
                <a:cs typeface="Calibri"/>
              </a:rPr>
              <a:t>GROUND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Attachments → Databricks AI Search. Cast &amp; templates → Vector Search. Optional Tavily crawl for fresh hooks.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83280" y="2944368"/>
            <a:ext cx="2560320" cy="2697480"/>
          </a:xfrm>
          <a:prstGeom prst="roundRect">
            <a:avLst>
              <a:gd name="adj" fmla="val 5000"/>
            </a:avLst>
          </a:prstGeom>
          <a:solidFill>
            <a:srgbClr val="18181F"/>
          </a:solidFill>
          <a:ln w="12700">
            <a:solidFill>
              <a:srgbClr val="2E2E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09728" tIns="91440" bIns="73152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>
                <a:solidFill>
                  <a:srgbClr val="E6194D"/>
                </a:solidFill>
                <a:latin typeface="Calibri"/>
                <a:ea typeface="Calibri"/>
                <a:cs typeface="Calibri"/>
              </a:rPr>
              <a:t>WRITE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Storytelling + Script Writer produce a structured multi-part package with cliffhangers and narration plan.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26480" y="2944368"/>
            <a:ext cx="2560320" cy="2697480"/>
          </a:xfrm>
          <a:prstGeom prst="roundRect">
            <a:avLst>
              <a:gd name="adj" fmla="val 5000"/>
            </a:avLst>
          </a:prstGeom>
          <a:solidFill>
            <a:srgbClr val="18181F"/>
          </a:solidFill>
          <a:ln w="12700">
            <a:solidFill>
              <a:srgbClr val="2E2E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09728" tIns="91440" bIns="73152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>
                <a:solidFill>
                  <a:srgbClr val="E6194D"/>
                </a:solidFill>
                <a:latin typeface="Calibri"/>
                <a:ea typeface="Calibri"/>
                <a:cs typeface="Calibri"/>
              </a:rPr>
              <a:t>PRODUCE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Voice agent renders TTS + SFX. Director + Image agents build companion visuals and cover art.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69680" y="2944368"/>
            <a:ext cx="2560320" cy="2697480"/>
          </a:xfrm>
          <a:prstGeom prst="roundRect">
            <a:avLst>
              <a:gd name="adj" fmla="val 5000"/>
            </a:avLst>
          </a:prstGeom>
          <a:solidFill>
            <a:srgbClr val="18181F"/>
          </a:solidFill>
          <a:ln w="12700">
            <a:solidFill>
              <a:srgbClr val="2E2E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09728" tIns="91440" bIns="73152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>
                <a:solidFill>
                  <a:srgbClr val="E6194D"/>
                </a:solidFill>
                <a:latin typeface="Calibri"/>
                <a:ea typeface="Calibri"/>
                <a:cs typeface="Calibri"/>
              </a:rPr>
              <a:t>ASSURE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Timeline editor for listen/edit. Audience Sim proposes patches. Human approves each gate.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473952"/>
            <a:ext cx="841248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71717A"/>
                </a:solidFill>
                <a:latin typeface="Calibri"/>
                <a:ea typeface="Calibri"/>
                <a:cs typeface="Calibri"/>
              </a:rPr>
              <a:t>Kahani  ·  Zero to One × Pocket FM  ·  IIM Bangalore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95560" y="6473952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71717A"/>
                </a:solidFill>
                <a:latin typeface="Calibri"/>
                <a:ea typeface="Calibri"/>
                <a:cs typeface="Calibri"/>
              </a:rPr>
              <a:t>05 / 08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329184"/>
            <a:ext cx="329184" cy="54864"/>
          </a:xfrm>
          <a:prstGeom prst="rect">
            <a:avLst/>
          </a:prstGeom>
          <a:solidFill>
            <a:srgbClr val="E619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08792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E6194D"/>
                </a:solidFill>
                <a:latin typeface="Calibri"/>
                <a:ea typeface="Calibri"/>
                <a:cs typeface="Calibri"/>
              </a:rPr>
              <a:t>05 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94944"/>
            <a:ext cx="10908792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Seven specialized agents — one production studio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97280"/>
            <a:ext cx="10908792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1A1AA"/>
                </a:solidFill>
                <a:latin typeface="Calibri"/>
                <a:ea typeface="Calibri"/>
                <a:cs typeface="Calibri"/>
              </a:rPr>
              <a:t>Each owns a stage; the orchestrator sequences them with human approvals.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664208"/>
            <a:ext cx="73152" cy="1783080"/>
          </a:xfrm>
          <a:prstGeom prst="rect">
            <a:avLst/>
          </a:prstGeom>
          <a:solidFill>
            <a:srgbClr val="E619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13232" y="1664208"/>
            <a:ext cx="2487168" cy="1783080"/>
          </a:xfrm>
          <a:prstGeom prst="roundRect">
            <a:avLst>
              <a:gd name="adj" fmla="val 5000"/>
            </a:avLst>
          </a:prstGeom>
          <a:solidFill>
            <a:srgbClr val="18181F"/>
          </a:solidFill>
          <a:ln w="12700">
            <a:solidFill>
              <a:srgbClr val="2E2E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91440" bIns="73152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Storytelling Agent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1A1AA"/>
                </a:solidFill>
                <a:latin typeface="Calibri"/>
                <a:ea typeface="Calibri"/>
                <a:cs typeface="Calibri"/>
              </a:rPr>
              <a:t>Shapes the series brief, plot pitches, and creative direction inside chat.</a:t>
            </a:r>
          </a:p>
        </p:txBody>
      </p:sp>
      <p:sp>
        <p:nvSpPr>
          <p:cNvPr id="8" name="Rectangle 7"/>
          <p:cNvSpPr/>
          <p:nvPr/>
        </p:nvSpPr>
        <p:spPr>
          <a:xfrm>
            <a:off x="3383280" y="1664208"/>
            <a:ext cx="73152" cy="1783080"/>
          </a:xfrm>
          <a:prstGeom prst="rect">
            <a:avLst/>
          </a:prstGeom>
          <a:solidFill>
            <a:srgbClr val="E619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456432" y="1664208"/>
            <a:ext cx="2487168" cy="1783080"/>
          </a:xfrm>
          <a:prstGeom prst="roundRect">
            <a:avLst>
              <a:gd name="adj" fmla="val 5000"/>
            </a:avLst>
          </a:prstGeom>
          <a:solidFill>
            <a:srgbClr val="18181F"/>
          </a:solidFill>
          <a:ln w="12700">
            <a:solidFill>
              <a:srgbClr val="2E2E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91440" bIns="73152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Scripting &amp; Search Agent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1A1AA"/>
                </a:solidFill>
                <a:latin typeface="Calibri"/>
                <a:ea typeface="Calibri"/>
                <a:cs typeface="Calibri"/>
              </a:rPr>
              <a:t>Retrieves project context (Databricks) and researches hooks (Tavily + extraction).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0" y="1664208"/>
            <a:ext cx="73152" cy="1783080"/>
          </a:xfrm>
          <a:prstGeom prst="rect">
            <a:avLst/>
          </a:prstGeom>
          <a:solidFill>
            <a:srgbClr val="E619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199632" y="1664208"/>
            <a:ext cx="2487168" cy="1783080"/>
          </a:xfrm>
          <a:prstGeom prst="roundRect">
            <a:avLst>
              <a:gd name="adj" fmla="val 5000"/>
            </a:avLst>
          </a:prstGeom>
          <a:solidFill>
            <a:srgbClr val="18181F"/>
          </a:solidFill>
          <a:ln w="12700">
            <a:solidFill>
              <a:srgbClr val="2E2E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91440" bIns="73152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Narrative Agent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1A1AA"/>
                </a:solidFill>
                <a:latin typeface="Calibri"/>
                <a:ea typeface="Calibri"/>
                <a:cs typeface="Calibri"/>
              </a:rPr>
              <a:t>Locks narration mode — narration-led, dialogue inserts, multi-narrator, framed.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869680" y="1664208"/>
            <a:ext cx="73152" cy="1783080"/>
          </a:xfrm>
          <a:prstGeom prst="rect">
            <a:avLst/>
          </a:prstGeom>
          <a:solidFill>
            <a:srgbClr val="E619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942832" y="1664208"/>
            <a:ext cx="2487168" cy="1783080"/>
          </a:xfrm>
          <a:prstGeom prst="roundRect">
            <a:avLst>
              <a:gd name="adj" fmla="val 5000"/>
            </a:avLst>
          </a:prstGeom>
          <a:solidFill>
            <a:srgbClr val="18181F"/>
          </a:solidFill>
          <a:ln w="12700">
            <a:solidFill>
              <a:srgbClr val="2E2E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91440" bIns="73152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Script Writer Agent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1A1AA"/>
                </a:solidFill>
                <a:latin typeface="Calibri"/>
                <a:ea typeface="Calibri"/>
                <a:cs typeface="Calibri"/>
              </a:rPr>
              <a:t>Writes the structured multi-part script package and screenplay.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3630168"/>
            <a:ext cx="73152" cy="1783080"/>
          </a:xfrm>
          <a:prstGeom prst="rect">
            <a:avLst/>
          </a:prstGeom>
          <a:solidFill>
            <a:srgbClr val="E619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50392" y="3630168"/>
            <a:ext cx="3401568" cy="1783080"/>
          </a:xfrm>
          <a:prstGeom prst="roundRect">
            <a:avLst>
              <a:gd name="adj" fmla="val 5000"/>
            </a:avLst>
          </a:prstGeom>
          <a:solidFill>
            <a:srgbClr val="18181F"/>
          </a:solidFill>
          <a:ln w="12700">
            <a:solidFill>
              <a:srgbClr val="2E2E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91440" bIns="73152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Director Agent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1A1AA"/>
                </a:solidFill>
                <a:latin typeface="Calibri"/>
                <a:ea typeface="Calibri"/>
                <a:cs typeface="Calibri"/>
              </a:rPr>
              <a:t>Plans visual shots / lookbook — performance-aware scene direction.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34840" y="3630168"/>
            <a:ext cx="73152" cy="1783080"/>
          </a:xfrm>
          <a:prstGeom prst="rect">
            <a:avLst/>
          </a:prstGeom>
          <a:solidFill>
            <a:srgbClr val="E619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507992" y="3630168"/>
            <a:ext cx="3401568" cy="1783080"/>
          </a:xfrm>
          <a:prstGeom prst="roundRect">
            <a:avLst>
              <a:gd name="adj" fmla="val 5000"/>
            </a:avLst>
          </a:prstGeom>
          <a:solidFill>
            <a:srgbClr val="18181F"/>
          </a:solidFill>
          <a:ln w="12700">
            <a:solidFill>
              <a:srgbClr val="2E2E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91440" bIns="73152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Voice Agent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1A1AA"/>
                </a:solidFill>
                <a:latin typeface="Calibri"/>
                <a:ea typeface="Calibri"/>
                <a:cs typeface="Calibri"/>
              </a:rPr>
              <a:t>Casts library voices and renders TTS + SFX beds (ElevenLabs / Sarvam).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92440" y="3630168"/>
            <a:ext cx="73152" cy="1783080"/>
          </a:xfrm>
          <a:prstGeom prst="rect">
            <a:avLst/>
          </a:prstGeom>
          <a:solidFill>
            <a:srgbClr val="E619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165592" y="3630168"/>
            <a:ext cx="3401568" cy="1783080"/>
          </a:xfrm>
          <a:prstGeom prst="roundRect">
            <a:avLst>
              <a:gd name="adj" fmla="val 5000"/>
            </a:avLst>
          </a:prstGeom>
          <a:solidFill>
            <a:srgbClr val="18181F"/>
          </a:solidFill>
          <a:ln w="12700">
            <a:solidFill>
              <a:srgbClr val="2E2E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91440" bIns="73152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Image Agent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1A1AA"/>
                </a:solidFill>
                <a:latin typeface="Calibri"/>
                <a:ea typeface="Calibri"/>
                <a:cs typeface="Calibri"/>
              </a:rPr>
              <a:t>Generates companion stills, cover art, and visual track assets.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73952"/>
            <a:ext cx="841248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71717A"/>
                </a:solidFill>
                <a:latin typeface="Calibri"/>
                <a:ea typeface="Calibri"/>
                <a:cs typeface="Calibri"/>
              </a:rPr>
              <a:t>Kahani  ·  Zero to One × Pocket FM  ·  IIM Bangalore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5560" y="6473952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71717A"/>
                </a:solidFill>
                <a:latin typeface="Calibri"/>
                <a:ea typeface="Calibri"/>
                <a:cs typeface="Calibri"/>
              </a:rPr>
              <a:t>06 / 08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329184"/>
            <a:ext cx="329184" cy="54864"/>
          </a:xfrm>
          <a:prstGeom prst="rect">
            <a:avLst/>
          </a:prstGeom>
          <a:solidFill>
            <a:srgbClr val="E619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08792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E6194D"/>
                </a:solidFill>
                <a:latin typeface="Calibri"/>
                <a:ea typeface="Calibri"/>
                <a:cs typeface="Calibri"/>
              </a:rPr>
              <a:t>06  AGENT HANDOFF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94944"/>
            <a:ext cx="10908792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Who does what in sequence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97280"/>
            <a:ext cx="10908792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1A1AA"/>
                </a:solidFill>
                <a:latin typeface="Calibri"/>
                <a:ea typeface="Calibri"/>
                <a:cs typeface="Calibri"/>
              </a:rPr>
              <a:t>Search grounds truth → writers lock story → voice &amp; image produce → humans decide.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64208"/>
            <a:ext cx="2834640" cy="621792"/>
          </a:xfrm>
          <a:prstGeom prst="roundRect">
            <a:avLst>
              <a:gd name="adj" fmla="val 5000"/>
            </a:avLst>
          </a:prstGeom>
          <a:solidFill>
            <a:srgbClr val="22222C"/>
          </a:solidFill>
          <a:ln w="12700">
            <a:solidFill>
              <a:srgbClr val="2E2E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09728" tIns="91440" bIns="73152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Storytelling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66160" y="1664208"/>
            <a:ext cx="2194560" cy="621792"/>
          </a:xfrm>
          <a:prstGeom prst="roundRect">
            <a:avLst>
              <a:gd name="adj" fmla="val 5000"/>
            </a:avLst>
          </a:prstGeom>
          <a:solidFill>
            <a:srgbClr val="18181F"/>
          </a:solidFill>
          <a:ln w="12700">
            <a:solidFill>
              <a:srgbClr val="2E2E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09728" tIns="91440" bIns="73152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E6194D"/>
                </a:solidFill>
                <a:latin typeface="Calibri"/>
                <a:ea typeface="Calibri"/>
                <a:cs typeface="Calibri"/>
              </a:rPr>
              <a:t>Chat director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1664208"/>
            <a:ext cx="5669280" cy="621792"/>
          </a:xfrm>
          <a:prstGeom prst="roundRect">
            <a:avLst>
              <a:gd name="adj" fmla="val 5000"/>
            </a:avLst>
          </a:prstGeom>
          <a:solidFill>
            <a:srgbClr val="18181F"/>
          </a:solidFill>
          <a:ln w="12700">
            <a:solidFill>
              <a:srgbClr val="2E2E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09728" tIns="91440" bIns="73152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1A1AA"/>
                </a:solidFill>
                <a:latin typeface="Calibri"/>
                <a:ea typeface="Calibri"/>
                <a:cs typeface="Calibri"/>
              </a:rPr>
              <a:t>Plot pitches, series intent, route generate / rewrite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359152"/>
            <a:ext cx="2834640" cy="621792"/>
          </a:xfrm>
          <a:prstGeom prst="roundRect">
            <a:avLst>
              <a:gd name="adj" fmla="val 5000"/>
            </a:avLst>
          </a:prstGeom>
          <a:solidFill>
            <a:srgbClr val="22222C"/>
          </a:solidFill>
          <a:ln w="12700">
            <a:solidFill>
              <a:srgbClr val="2E2E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09728" tIns="91440" bIns="73152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Scripting &amp; Search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66160" y="2359152"/>
            <a:ext cx="2194560" cy="621792"/>
          </a:xfrm>
          <a:prstGeom prst="roundRect">
            <a:avLst>
              <a:gd name="adj" fmla="val 5000"/>
            </a:avLst>
          </a:prstGeom>
          <a:solidFill>
            <a:srgbClr val="18181F"/>
          </a:solidFill>
          <a:ln w="12700">
            <a:solidFill>
              <a:srgbClr val="2E2E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09728" tIns="91440" bIns="73152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E6194D"/>
                </a:solidFill>
                <a:latin typeface="Calibri"/>
                <a:ea typeface="Calibri"/>
                <a:cs typeface="Calibri"/>
              </a:rPr>
              <a:t>RAG + crawl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852160" y="2359152"/>
            <a:ext cx="5669280" cy="621792"/>
          </a:xfrm>
          <a:prstGeom prst="roundRect">
            <a:avLst>
              <a:gd name="adj" fmla="val 5000"/>
            </a:avLst>
          </a:prstGeom>
          <a:solidFill>
            <a:srgbClr val="18181F"/>
          </a:solidFill>
          <a:ln w="12700">
            <a:solidFill>
              <a:srgbClr val="2E2E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09728" tIns="91440" bIns="73152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1A1AA"/>
                </a:solidFill>
                <a:latin typeface="Calibri"/>
                <a:ea typeface="Calibri"/>
                <a:cs typeface="Calibri"/>
              </a:rPr>
              <a:t>Databricks chunks · Tavily research · SOURCE assembly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054096"/>
            <a:ext cx="2834640" cy="621792"/>
          </a:xfrm>
          <a:prstGeom prst="roundRect">
            <a:avLst>
              <a:gd name="adj" fmla="val 5000"/>
            </a:avLst>
          </a:prstGeom>
          <a:solidFill>
            <a:srgbClr val="22222C"/>
          </a:solidFill>
          <a:ln w="12700">
            <a:solidFill>
              <a:srgbClr val="2E2E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09728" tIns="91440" bIns="73152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Narrative + Script Writer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66160" y="3054096"/>
            <a:ext cx="2194560" cy="621792"/>
          </a:xfrm>
          <a:prstGeom prst="roundRect">
            <a:avLst>
              <a:gd name="adj" fmla="val 5000"/>
            </a:avLst>
          </a:prstGeom>
          <a:solidFill>
            <a:srgbClr val="18181F"/>
          </a:solidFill>
          <a:ln w="12700">
            <a:solidFill>
              <a:srgbClr val="2E2E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09728" tIns="91440" bIns="73152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E6194D"/>
                </a:solidFill>
                <a:latin typeface="Calibri"/>
                <a:ea typeface="Calibri"/>
                <a:cs typeface="Calibri"/>
              </a:rPr>
              <a:t>Script package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852160" y="3054096"/>
            <a:ext cx="5669280" cy="621792"/>
          </a:xfrm>
          <a:prstGeom prst="roundRect">
            <a:avLst>
              <a:gd name="adj" fmla="val 5000"/>
            </a:avLst>
          </a:prstGeom>
          <a:solidFill>
            <a:srgbClr val="18181F"/>
          </a:solidFill>
          <a:ln w="12700">
            <a:solidFill>
              <a:srgbClr val="2E2E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09728" tIns="91440" bIns="73152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1A1AA"/>
                </a:solidFill>
                <a:latin typeface="Calibri"/>
                <a:ea typeface="Calibri"/>
                <a:cs typeface="Calibri"/>
              </a:rPr>
              <a:t>Narration config + multi-part screenplay + cliffs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49040"/>
            <a:ext cx="2834640" cy="621792"/>
          </a:xfrm>
          <a:prstGeom prst="roundRect">
            <a:avLst>
              <a:gd name="adj" fmla="val 5000"/>
            </a:avLst>
          </a:prstGeom>
          <a:solidFill>
            <a:srgbClr val="22222C"/>
          </a:solidFill>
          <a:ln w="12700">
            <a:solidFill>
              <a:srgbClr val="2E2E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09728" tIns="91440" bIns="73152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Voice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566160" y="3749040"/>
            <a:ext cx="2194560" cy="621792"/>
          </a:xfrm>
          <a:prstGeom prst="roundRect">
            <a:avLst>
              <a:gd name="adj" fmla="val 5000"/>
            </a:avLst>
          </a:prstGeom>
          <a:solidFill>
            <a:srgbClr val="18181F"/>
          </a:solidFill>
          <a:ln w="12700">
            <a:solidFill>
              <a:srgbClr val="2E2E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09728" tIns="91440" bIns="73152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E6194D"/>
                </a:solidFill>
                <a:latin typeface="Calibri"/>
                <a:ea typeface="Calibri"/>
                <a:cs typeface="Calibri"/>
              </a:rPr>
              <a:t>Audio stems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852160" y="3749040"/>
            <a:ext cx="5669280" cy="621792"/>
          </a:xfrm>
          <a:prstGeom prst="roundRect">
            <a:avLst>
              <a:gd name="adj" fmla="val 5000"/>
            </a:avLst>
          </a:prstGeom>
          <a:solidFill>
            <a:srgbClr val="18181F"/>
          </a:solidFill>
          <a:ln w="12700">
            <a:solidFill>
              <a:srgbClr val="2E2E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09728" tIns="91440" bIns="73152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1A1AA"/>
                </a:solidFill>
                <a:latin typeface="Calibri"/>
                <a:ea typeface="Calibri"/>
                <a:cs typeface="Calibri"/>
              </a:rPr>
              <a:t>Cast match (Vector Search) · TTS · SFX mix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443984"/>
            <a:ext cx="2834640" cy="621792"/>
          </a:xfrm>
          <a:prstGeom prst="roundRect">
            <a:avLst>
              <a:gd name="adj" fmla="val 5000"/>
            </a:avLst>
          </a:prstGeom>
          <a:solidFill>
            <a:srgbClr val="22222C"/>
          </a:solidFill>
          <a:ln w="12700">
            <a:solidFill>
              <a:srgbClr val="2E2E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09728" tIns="91440" bIns="73152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Director + Image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566160" y="4443984"/>
            <a:ext cx="2194560" cy="621792"/>
          </a:xfrm>
          <a:prstGeom prst="roundRect">
            <a:avLst>
              <a:gd name="adj" fmla="val 5000"/>
            </a:avLst>
          </a:prstGeom>
          <a:solidFill>
            <a:srgbClr val="18181F"/>
          </a:solidFill>
          <a:ln w="12700">
            <a:solidFill>
              <a:srgbClr val="2E2E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09728" tIns="91440" bIns="73152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E6194D"/>
                </a:solidFill>
                <a:latin typeface="Calibri"/>
                <a:ea typeface="Calibri"/>
                <a:cs typeface="Calibri"/>
              </a:rPr>
              <a:t>Visual track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852160" y="4443984"/>
            <a:ext cx="5669280" cy="621792"/>
          </a:xfrm>
          <a:prstGeom prst="roundRect">
            <a:avLst>
              <a:gd name="adj" fmla="val 5000"/>
            </a:avLst>
          </a:prstGeom>
          <a:solidFill>
            <a:srgbClr val="18181F"/>
          </a:solidFill>
          <a:ln w="12700">
            <a:solidFill>
              <a:srgbClr val="2E2E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09728" tIns="91440" bIns="73152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1A1AA"/>
                </a:solidFill>
                <a:latin typeface="Calibri"/>
                <a:ea typeface="Calibri"/>
                <a:cs typeface="Calibri"/>
              </a:rPr>
              <a:t>Shot plan · lookbook · stills · cover art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5138928"/>
            <a:ext cx="2834640" cy="621792"/>
          </a:xfrm>
          <a:prstGeom prst="roundRect">
            <a:avLst>
              <a:gd name="adj" fmla="val 5000"/>
            </a:avLst>
          </a:prstGeom>
          <a:solidFill>
            <a:srgbClr val="22222C"/>
          </a:solidFill>
          <a:ln w="12700">
            <a:solidFill>
              <a:srgbClr val="2E2E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09728" tIns="91440" bIns="73152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Human + Audience Sim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566160" y="5138928"/>
            <a:ext cx="2194560" cy="621792"/>
          </a:xfrm>
          <a:prstGeom prst="roundRect">
            <a:avLst>
              <a:gd name="adj" fmla="val 5000"/>
            </a:avLst>
          </a:prstGeom>
          <a:solidFill>
            <a:srgbClr val="18181F"/>
          </a:solidFill>
          <a:ln w="12700">
            <a:solidFill>
              <a:srgbClr val="2E2E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09728" tIns="91440" bIns="73152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E6194D"/>
                </a:solidFill>
                <a:latin typeface="Calibri"/>
                <a:ea typeface="Calibri"/>
                <a:cs typeface="Calibri"/>
              </a:rPr>
              <a:t>Quality gate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852160" y="5138928"/>
            <a:ext cx="5669280" cy="621792"/>
          </a:xfrm>
          <a:prstGeom prst="roundRect">
            <a:avLst>
              <a:gd name="adj" fmla="val 5000"/>
            </a:avLst>
          </a:prstGeom>
          <a:solidFill>
            <a:srgbClr val="18181F"/>
          </a:solidFill>
          <a:ln w="12700">
            <a:solidFill>
              <a:srgbClr val="2E2E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09728" tIns="91440" bIns="73152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1A1AA"/>
                </a:solidFill>
                <a:latin typeface="Calibri"/>
                <a:ea typeface="Calibri"/>
                <a:cs typeface="Calibri"/>
              </a:rPr>
              <a:t>Approve stages · listen in editor · apply patches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473952"/>
            <a:ext cx="841248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71717A"/>
                </a:solidFill>
                <a:latin typeface="Calibri"/>
                <a:ea typeface="Calibri"/>
                <a:cs typeface="Calibri"/>
              </a:rPr>
              <a:t>Kahani  ·  Zero to One × Pocket FM  ·  IIM Bangalore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5560" y="6473952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71717A"/>
                </a:solidFill>
                <a:latin typeface="Calibri"/>
                <a:ea typeface="Calibri"/>
                <a:cs typeface="Calibri"/>
              </a:rPr>
              <a:t>07 / 08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619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234440"/>
            <a:ext cx="10908792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6194D"/>
                </a:solidFill>
                <a:latin typeface="Calibri"/>
                <a:ea typeface="Calibri"/>
                <a:cs typeface="Calibri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40"/>
            <a:ext cx="10908792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Kahani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423160"/>
            <a:ext cx="1005840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A1A1AA"/>
                </a:solidFill>
                <a:latin typeface="Calibri"/>
                <a:ea typeface="Calibri"/>
                <a:cs typeface="Calibri"/>
              </a:rPr>
              <a:t>Seven agents. One timeline. Human publish. Built for Pocket FM–scale serial production.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383280"/>
            <a:ext cx="3474720" cy="1234440"/>
          </a:xfrm>
          <a:prstGeom prst="roundRect">
            <a:avLst>
              <a:gd name="adj" fmla="val 5000"/>
            </a:avLst>
          </a:prstGeom>
          <a:solidFill>
            <a:srgbClr val="18181F"/>
          </a:solidFill>
          <a:ln w="12700">
            <a:solidFill>
              <a:srgbClr val="2E2E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09728" tIns="91440" bIns="73152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E6194D"/>
                </a:solidFill>
                <a:latin typeface="Calibri"/>
                <a:ea typeface="Calibri"/>
                <a:cs typeface="Calibri"/>
              </a:rPr>
              <a:t>ASK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Pilot with a Pocket FM–style content pod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3383280"/>
            <a:ext cx="3474720" cy="1234440"/>
          </a:xfrm>
          <a:prstGeom prst="roundRect">
            <a:avLst>
              <a:gd name="adj" fmla="val 5000"/>
            </a:avLst>
          </a:prstGeom>
          <a:solidFill>
            <a:srgbClr val="18181F"/>
          </a:solidFill>
          <a:ln w="12700">
            <a:solidFill>
              <a:srgbClr val="2E2E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09728" tIns="91440" bIns="73152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E6194D"/>
                </a:solidFill>
                <a:latin typeface="Calibri"/>
                <a:ea typeface="Calibri"/>
                <a:cs typeface="Calibri"/>
              </a:rPr>
              <a:t>PROOF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Live demo: generate → listen → simulate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80" y="3383280"/>
            <a:ext cx="3474720" cy="1234440"/>
          </a:xfrm>
          <a:prstGeom prst="roundRect">
            <a:avLst>
              <a:gd name="adj" fmla="val 5000"/>
            </a:avLst>
          </a:prstGeom>
          <a:solidFill>
            <a:srgbClr val="18181F"/>
          </a:solidFill>
          <a:ln w="12700">
            <a:solidFill>
              <a:srgbClr val="2E2E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09728" tIns="91440" bIns="73152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E6194D"/>
                </a:solidFill>
                <a:latin typeface="Calibri"/>
                <a:ea typeface="Calibri"/>
                <a:cs typeface="Calibri"/>
              </a:rPr>
              <a:t>CONTACT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Add team names and emails here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029200"/>
            <a:ext cx="10908792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Stack highlight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1717A"/>
                </a:solidFill>
                <a:latin typeface="Calibri"/>
                <a:ea typeface="Calibri"/>
                <a:cs typeface="Calibri"/>
              </a:rPr>
              <a:t>LangGraph · FastAPI · React · ElevenLabs/Sarvam · Gemini/OpenAI · Tavily · Databricks AI Search &amp; Vector Search · S3 · Docker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73952"/>
            <a:ext cx="841248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71717A"/>
                </a:solidFill>
                <a:latin typeface="Calibri"/>
                <a:ea typeface="Calibri"/>
                <a:cs typeface="Calibri"/>
              </a:rPr>
              <a:t>Kahani  ·  Zero to One × Pocket FM  ·  IIM Bangalore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95560" y="6473952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71717A"/>
                </a:solidFill>
                <a:latin typeface="Calibri"/>
                <a:ea typeface="Calibri"/>
                <a:cs typeface="Calibri"/>
              </a:rPr>
              <a:t>08 / 08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